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1828800"/>
            <a:ext cx="411480" cy="32004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0652760" y="201168"/>
            <a:ext cx="11887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652760" y="20116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C8102E"/>
                </a:solidFill>
                <a:latin typeface="맑은 고딕"/>
              </a:rPr>
              <a:t>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맑은 고딕"/>
              </a:rPr>
              <a:t>Advanced Battery Lab. | 선행Lab. 성능/수명 파트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6858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맑은 고딕"/>
              </a:rPr>
              <a:t>BDT 개발 현황 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6858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맑은 고딕"/>
              </a:rPr>
              <a:t>26년 연간 계획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CADCFC"/>
                </a:solidFill>
                <a:latin typeface="맑은 고딕"/>
              </a:rPr>
              <a:t>BatteryDataTool — 4대 미션 통합 플랫폼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760720"/>
            <a:ext cx="6400800" cy="2743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31520" y="585216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맑은 고딕"/>
              </a:rPr>
              <a:t>2026-04-21 | 그룹장 보고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17220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맑은 고딕"/>
              </a:rPr>
              <a:t>작성 : 류 (성능/수명 파트)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097280"/>
            <a:ext cx="34747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207008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  <a:latin typeface="맑은 고딕"/>
              </a:rPr>
              <a:t>소재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627632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2E86AB"/>
                </a:solidFill>
                <a:latin typeface="맑은 고딕"/>
              </a:rPr>
              <a:t>전기화학 물성·OCP·GITT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331720"/>
            <a:ext cx="34747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441448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  <a:latin typeface="맑은 고딕"/>
              </a:rPr>
              <a:t>dV/dQ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862072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2E86AB"/>
                </a:solidFill>
                <a:latin typeface="맑은 고딕"/>
              </a:rPr>
              <a:t>LLI / LAM 분리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566160"/>
            <a:ext cx="34747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675888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  <a:latin typeface="맑은 고딕"/>
              </a:rPr>
              <a:t>성능 Sim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096512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2E86AB"/>
                </a:solidFill>
                <a:latin typeface="맑은 고딕"/>
              </a:rPr>
              <a:t>P2D · SPMe · SPM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4800600"/>
            <a:ext cx="34747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4910328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  <a:latin typeface="맑은 고딕"/>
              </a:rPr>
              <a:t>수명 예측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330952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2E86AB"/>
                </a:solidFill>
                <a:latin typeface="맑은 고딕"/>
              </a:rPr>
              <a:t>Empirical + Arrhenius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652760" y="201168"/>
            <a:ext cx="11887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652760" y="20116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C8102E"/>
                </a:solidFill>
                <a:latin typeface="맑은 고딕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502920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2E86AB"/>
                </a:solidFill>
                <a:latin typeface="맑은 고딕"/>
              </a:rPr>
              <a:t>Advanced Battery Lab.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96012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맑은 고딕"/>
              </a:rPr>
              <a:t>Executive. Summary — 한 장 요약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7772400" cy="77724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11480" y="1188720"/>
            <a:ext cx="109728" cy="777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126187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맑은 고딕"/>
              </a:rPr>
              <a:t>선행Lab 4대 미션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27632"/>
            <a:ext cx="1188720" cy="256032"/>
          </a:xfrm>
          <a:prstGeom prst="roundRect">
            <a:avLst>
              <a:gd name="adj" fmla="val 12000"/>
            </a:avLst>
          </a:prstGeom>
          <a:solidFill>
            <a:srgbClr val="D9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2763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진행 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627632"/>
            <a:ext cx="5760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맑은 고딕"/>
              </a:rPr>
              <a:t>소재 DB · dV/dQ · 성능 Sim · 수명 예측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075688"/>
            <a:ext cx="7772400" cy="77724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11480" y="2075688"/>
            <a:ext cx="109728" cy="777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85800" y="21488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맑은 고딕"/>
              </a:rPr>
              <a:t>BDT 통합 플랫폼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514600"/>
            <a:ext cx="1188720" cy="256032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51460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1Q 완료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514600"/>
            <a:ext cx="5760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맑은 고딕"/>
              </a:rPr>
              <a:t>4대 미션의 공용 실행 도구로 자리매김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962656"/>
            <a:ext cx="7772400" cy="77724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411480" y="2962656"/>
            <a:ext cx="109728" cy="777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5800" y="303580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맑은 고딕"/>
              </a:rPr>
              <a:t>4월 개발 실적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401568"/>
            <a:ext cx="1188720" cy="256032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40156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162 커밋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401568"/>
            <a:ext cx="5760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맑은 고딕"/>
              </a:rPr>
              <a:t>파이프라인 리팩터 · 분류 v4 · OSS 14종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849624"/>
            <a:ext cx="7772400" cy="77724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411480" y="3849624"/>
            <a:ext cx="109728" cy="777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5800" y="392277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맑은 고딕"/>
              </a:rPr>
              <a:t>2분기 Focus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288536"/>
            <a:ext cx="1188720" cy="256032"/>
          </a:xfrm>
          <a:prstGeom prst="roundRect">
            <a:avLst>
              <a:gd name="adj" fmla="val 12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288536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계획 확정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4288536"/>
            <a:ext cx="5760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맑은 고딕"/>
              </a:rPr>
              <a:t>DB UI · 풀셀↔단극 · 캘리브 · Si 계수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736592"/>
            <a:ext cx="7772400" cy="77724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11480" y="4736592"/>
            <a:ext cx="109728" cy="7772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85800" y="480974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맑은 고딕"/>
              </a:rPr>
              <a:t>선결 과제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175504"/>
            <a:ext cx="1188720" cy="256032"/>
          </a:xfrm>
          <a:prstGeom prst="roundRect">
            <a:avLst>
              <a:gd name="adj" fmla="val 12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175504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관리 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5175504"/>
            <a:ext cx="5760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맑은 고딕"/>
              </a:rPr>
              <a:t>DRM 포맷 · OSS 라이선스 경계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5641848"/>
            <a:ext cx="7772400" cy="74980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94360" y="5687568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맑은 고딕"/>
              </a:rPr>
              <a:t>과학적 흐름 (Science Pipeline)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989320"/>
            <a:ext cx="1737360" cy="36576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598932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E2761"/>
                </a:solidFill>
                <a:latin typeface="맑은 고딕"/>
              </a:rPr>
              <a:t>소재 물성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17220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1">
                <a:solidFill>
                  <a:srgbClr val="2E86AB"/>
                </a:solidFill>
                <a:latin typeface="Consolas"/>
              </a:rPr>
              <a:t>U(x), D_s, i₀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2336292" y="6080760"/>
            <a:ext cx="64008" cy="182880"/>
          </a:xfrm>
          <a:prstGeom prst="rightArrow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404872" y="5989320"/>
            <a:ext cx="1737360" cy="36576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04872" y="598932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E2761"/>
                </a:solidFill>
                <a:latin typeface="맑은 고딕"/>
              </a:rPr>
              <a:t>열화 모드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04872" y="617220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1">
                <a:solidFill>
                  <a:srgbClr val="2E86AB"/>
                </a:solidFill>
                <a:latin typeface="Consolas"/>
              </a:rPr>
              <a:t>LLI · LAM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4146804" y="6080760"/>
            <a:ext cx="64008" cy="182880"/>
          </a:xfrm>
          <a:prstGeom prst="rightArrow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215384" y="5989320"/>
            <a:ext cx="1737360" cy="36576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15384" y="598932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E2761"/>
                </a:solidFill>
                <a:latin typeface="맑은 고딕"/>
              </a:rPr>
              <a:t>전기화학 모델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15384" y="617220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1">
                <a:solidFill>
                  <a:srgbClr val="2E86AB"/>
                </a:solidFill>
                <a:latin typeface="Consolas"/>
              </a:rPr>
              <a:t>DFN · SPMe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5957316" y="6080760"/>
            <a:ext cx="64008" cy="182880"/>
          </a:xfrm>
          <a:prstGeom prst="rightArrow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025896" y="5989320"/>
            <a:ext cx="1737360" cy="365760"/>
          </a:xfrm>
          <a:prstGeom prst="roundRect">
            <a:avLst>
              <a:gd name="adj" fmla="val 12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25896" y="598932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E2761"/>
                </a:solidFill>
                <a:latin typeface="맑은 고딕"/>
              </a:rPr>
              <a:t>수명 예측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25896" y="617220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1">
                <a:solidFill>
                  <a:srgbClr val="2E86AB"/>
                </a:solidFill>
                <a:latin typeface="Consolas"/>
              </a:rPr>
              <a:t>Q(n) = 1 - an^b - ce^d(n-e)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12480" y="1188720"/>
            <a:ext cx="3474720" cy="52120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595360" y="137160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ADCFC"/>
                </a:solidFill>
                <a:latin typeface="맑은 고딕"/>
              </a:rPr>
              <a:t>핵심 메시지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95360" y="1783080"/>
            <a:ext cx="411480" cy="3657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595360" y="1965960"/>
            <a:ext cx="310896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발표자료 슬라이드 2의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4대 기둥은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/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BDT 라는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하나의 도구 위에서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통합 구동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/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되고 있으며,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/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1분기  "기반 구축"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        ↓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2분기  "결합 · 정밀화"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/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맑은 고딕"/>
              </a:rPr>
              <a:t>로 자연스럽게 전환 중.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4922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맑은 고딕"/>
              </a:rPr>
              <a:t>선행Lab 성능/수명 파트 | BDT 현황 및 26년 계획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789920" y="649224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맑은 고딕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652760" y="201168"/>
            <a:ext cx="11887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652760" y="20116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C8102E"/>
                </a:solidFill>
                <a:latin typeface="맑은 고딕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502920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2E86AB"/>
                </a:solidFill>
                <a:latin typeface="맑은 고딕"/>
              </a:rPr>
              <a:t>Advanced Battery Lab.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96012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맑은 고딕"/>
              </a:rPr>
              <a:t>1. 선행Lab. 성능/수명 파트 — 전체 그림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51560"/>
            <a:ext cx="5486400" cy="13716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548640" y="118872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맑은 고딕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1887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맑은 고딕"/>
              </a:rPr>
              <a:t>소재 전기화학 물성 DB화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554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맑은 고딕"/>
              </a:rPr>
              <a:t>설계 경쟁력 기반 데이터 구축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1168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2E86AB"/>
                </a:solidFill>
                <a:latin typeface="맑은 고딕"/>
              </a:rPr>
              <a:t>BDT : 파형수정 · 셋 결과 · DB 연동(예정)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051560"/>
            <a:ext cx="5486400" cy="13716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6446520" y="118872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1887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맑은 고딕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1887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맑은 고딕"/>
              </a:rPr>
              <a:t>dV/dQ 양음극 분리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554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맑은 고딕"/>
              </a:rPr>
              <a:t>열화 모드 (LLI / LAM) 규명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01168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2E86AB"/>
                </a:solidFill>
                <a:latin typeface="맑은 고딕"/>
              </a:rPr>
              <a:t>BDT : dVdQ 분석 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514600"/>
            <a:ext cx="5486400" cy="13716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6517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맑은 고딕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26517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맑은 고딕"/>
              </a:rPr>
              <a:t>성능 Simulation (전기화학)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0175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맑은 고딕"/>
              </a:rPr>
              <a:t>온도별 profile · 급속충전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47472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2E86AB"/>
                </a:solidFill>
                <a:latin typeface="맑은 고딕"/>
              </a:rPr>
              <a:t>BDT : 전기화학 시뮬레이션 탭 (PyBaMM)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514600"/>
            <a:ext cx="5486400" cy="13716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446520" y="265176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26517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맑은 고딕"/>
              </a:rPr>
              <a:t>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517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맑은 고딕"/>
              </a:rPr>
              <a:t>수명 예측 (Empirical)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0175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맑은 고딕"/>
              </a:rPr>
              <a:t>승인용 / 실사용 수명 예측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47472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2E86AB"/>
                </a:solidFill>
                <a:latin typeface="맑은 고딕"/>
              </a:rPr>
              <a:t>BDT : Eu · 승인 · 실사용 수명예측 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0690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맑은 고딕"/>
              </a:rPr>
              <a:t>26년 분기별 타임라인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480560"/>
            <a:ext cx="2834640" cy="3657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11480" y="44805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1Q — 기반 구축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0" y="4480560"/>
            <a:ext cx="2834640" cy="3657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291840" y="44805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2Q — 결합 · 정밀화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4480560"/>
            <a:ext cx="2834640" cy="36576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172200" y="44805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3Q — 자동화 · 통합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52560" y="4480560"/>
            <a:ext cx="2834640" cy="36576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052560" y="44805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4Q — 트렌드 · 운영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892040"/>
            <a:ext cx="2834640" cy="329184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84632" y="4892040"/>
            <a:ext cx="2834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맑은 고딕"/>
              </a:rPr>
              <a:t>물성 파라미터 설계</a:t>
            </a:r>
          </a:p>
          <a:p>
            <a:pPr algn="l"/>
            <a:r>
              <a:rPr sz="800" b="0" i="0">
                <a:solidFill>
                  <a:srgbClr val="444444"/>
                </a:solidFill>
                <a:latin typeface="맑은 고딕"/>
              </a:rPr>
              <a:t>코인/삼전극 SOP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91840" y="4892040"/>
            <a:ext cx="2834640" cy="329184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3364992" y="4892040"/>
            <a:ext cx="2834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맑은 고딕"/>
              </a:rPr>
              <a:t>DB 데이터 관리 UI 연동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4892040"/>
            <a:ext cx="2834640" cy="329184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245352" y="4892040"/>
            <a:ext cx="2834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맑은 고딕"/>
              </a:rPr>
              <a:t>소재 DB 파이프라인 정립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52560" y="4892040"/>
            <a:ext cx="2834640" cy="329184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125712" y="4892040"/>
            <a:ext cx="2834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맑은 고딕"/>
              </a:rPr>
              <a:t>지속 업데이트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5221224"/>
            <a:ext cx="2834640" cy="329184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84632" y="5221224"/>
            <a:ext cx="2834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맑은 고딕"/>
              </a:rPr>
              <a:t>dVdQ 스무딩</a:t>
            </a:r>
          </a:p>
          <a:p>
            <a:pPr algn="l"/>
            <a:r>
              <a:rPr sz="800" b="0" i="0">
                <a:solidFill>
                  <a:srgbClr val="444444"/>
                </a:solidFill>
                <a:latin typeface="맑은 고딕"/>
              </a:rPr>
              <a:t>음극 OCV 모델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91840" y="5221224"/>
            <a:ext cx="2834640" cy="329184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3364992" y="5221224"/>
            <a:ext cx="2834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맑은 고딕"/>
              </a:rPr>
              <a:t>풀셀↔단극 피크 매칭</a:t>
            </a:r>
          </a:p>
          <a:p>
            <a:pPr algn="l"/>
            <a:r>
              <a:rPr sz="800" b="0" i="0">
                <a:solidFill>
                  <a:srgbClr val="444444"/>
                </a:solidFill>
                <a:latin typeface="맑은 고딕"/>
              </a:rPr>
              <a:t>LLI/LAM 추출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2200" y="5221224"/>
            <a:ext cx="2834640" cy="329184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245352" y="5221224"/>
            <a:ext cx="2834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맑은 고딕"/>
              </a:rPr>
              <a:t>Tool 내부 dVdQ 통합</a:t>
            </a:r>
          </a:p>
          <a:p>
            <a:pPr algn="l"/>
            <a:r>
              <a:rPr sz="800" b="0" i="0">
                <a:solidFill>
                  <a:srgbClr val="444444"/>
                </a:solidFill>
                <a:latin typeface="맑은 고딕"/>
              </a:rPr>
              <a:t>분리 정확도 개선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52560" y="5221224"/>
            <a:ext cx="2834640" cy="329184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9125712" y="5221224"/>
            <a:ext cx="2834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맑은 고딕"/>
              </a:rPr>
              <a:t>다수 사이클 트렌드</a:t>
            </a:r>
          </a:p>
          <a:p>
            <a:pPr algn="l"/>
            <a:r>
              <a:rPr sz="800" b="0" i="0">
                <a:solidFill>
                  <a:srgbClr val="444444"/>
                </a:solidFill>
                <a:latin typeface="맑은 고딕"/>
              </a:rPr>
              <a:t>자동 분석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" y="5550408"/>
            <a:ext cx="2834640" cy="329184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84632" y="5550408"/>
            <a:ext cx="2834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맑은 고딕"/>
              </a:rPr>
              <a:t>오픈소스 모델(UI)</a:t>
            </a:r>
          </a:p>
          <a:p>
            <a:pPr algn="l"/>
            <a:r>
              <a:rPr sz="800" b="0" i="0">
                <a:solidFill>
                  <a:srgbClr val="444444"/>
                </a:solidFill>
                <a:latin typeface="맑은 고딕"/>
              </a:rPr>
              <a:t>충/방전·GITT·HPPC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91840" y="5550408"/>
            <a:ext cx="2834640" cy="329184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3364992" y="5550408"/>
            <a:ext cx="2834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맑은 고딕"/>
              </a:rPr>
              <a:t>기본 모델 캘리브</a:t>
            </a:r>
          </a:p>
          <a:p>
            <a:pPr algn="l"/>
            <a:r>
              <a:rPr sz="800" b="0" i="0">
                <a:solidFill>
                  <a:srgbClr val="444444"/>
                </a:solidFill>
                <a:latin typeface="맑은 고딕"/>
              </a:rPr>
              <a:t>Arrhenius 온도 의존성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72200" y="5550408"/>
            <a:ext cx="2834640" cy="329184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245352" y="5550408"/>
            <a:ext cx="2834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맑은 고딕"/>
              </a:rPr>
              <a:t>급속 스텝 가상 시나리오</a:t>
            </a:r>
          </a:p>
          <a:p>
            <a:pPr algn="l"/>
            <a:r>
              <a:rPr sz="800" b="0" i="0">
                <a:solidFill>
                  <a:srgbClr val="444444"/>
                </a:solidFill>
                <a:latin typeface="맑은 고딕"/>
              </a:rPr>
              <a:t>리튬 석출 risk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52560" y="5550408"/>
            <a:ext cx="2834640" cy="329184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9125712" y="5550408"/>
            <a:ext cx="2834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맑은 고딕"/>
              </a:rPr>
              <a:t>지속 고도화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5879592"/>
            <a:ext cx="2834640" cy="329184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484632" y="5879592"/>
            <a:ext cx="2834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맑은 고딕"/>
              </a:rPr>
              <a:t>온도별 파라미터 도출</a:t>
            </a:r>
          </a:p>
          <a:p>
            <a:pPr algn="l"/>
            <a:r>
              <a:rPr sz="800" b="0" i="0">
                <a:solidFill>
                  <a:srgbClr val="444444"/>
                </a:solidFill>
                <a:latin typeface="맑은 고딕"/>
              </a:rPr>
              <a:t>(folderble)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91840" y="5879592"/>
            <a:ext cx="2834640" cy="329184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3364992" y="5879592"/>
            <a:ext cx="2834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맑은 고딕"/>
              </a:rPr>
              <a:t>Si 하한전압 계수</a:t>
            </a:r>
          </a:p>
          <a:p>
            <a:pPr algn="l"/>
            <a:r>
              <a:rPr sz="800" b="0" i="0">
                <a:solidFill>
                  <a:srgbClr val="444444"/>
                </a:solidFill>
                <a:latin typeface="맑은 고딕"/>
              </a:rPr>
              <a:t>승인/실사용 EOL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72200" y="5879592"/>
            <a:ext cx="2834640" cy="329184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6245352" y="5879592"/>
            <a:ext cx="2834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맑은 고딕"/>
              </a:rPr>
              <a:t>다조건 비교 + 자동화</a:t>
            </a:r>
          </a:p>
          <a:p>
            <a:pPr algn="l"/>
            <a:r>
              <a:rPr sz="800" b="0" i="0">
                <a:solidFill>
                  <a:srgbClr val="444444"/>
                </a:solidFill>
                <a:latin typeface="맑은 고딕"/>
              </a:rPr>
              <a:t>리포트 산출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052560" y="5879592"/>
            <a:ext cx="2834640" cy="329184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9125712" y="5879592"/>
            <a:ext cx="28346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444444"/>
                </a:solidFill>
                <a:latin typeface="맑은 고딕"/>
              </a:rPr>
              <a:t>지속 운영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1480" y="64922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맑은 고딕"/>
              </a:rPr>
              <a:t>선행Lab 성능/수명 파트 | BDT 현황 및 26년 계획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789920" y="649224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맑은 고딕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652760" y="201168"/>
            <a:ext cx="11887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652760" y="20116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C8102E"/>
                </a:solidFill>
                <a:latin typeface="맑은 고딕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502920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2E86AB"/>
                </a:solidFill>
                <a:latin typeface="맑은 고딕"/>
              </a:rPr>
              <a:t>Advanced Battery Lab.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96012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맑은 고딕"/>
              </a:rPr>
              <a:t>2. BDT — 4대 미션 통합 플랫폼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51560"/>
            <a:ext cx="5029200" cy="512064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11887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맑은 고딕"/>
              </a:rPr>
              <a:t>왜 BDT 가 중심에 오는가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8102E"/>
                </a:solidFill>
                <a:latin typeface="맑은 고딕"/>
              </a:rPr>
              <a:t>과거 (개별 스크립트)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맑은 고딕"/>
              </a:rPr>
              <a:t>· 각자 Matlab / Python / Excel 로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591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맑은 고딕"/>
              </a:rPr>
              <a:t>· 결과 포맷 불일치, 재현성 낮음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15184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맑은 고딕"/>
              </a:rPr>
              <a:t>· 스크립트 소재 불명, 인수인계 어려움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맑은 고딕"/>
              </a:rPr>
              <a:t>현재 (BDT 단일 GUI)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28416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맑은 고딕"/>
              </a:rPr>
              <a:t>· raw 로딩 · 분석 · Sim · 수명예측 통합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584448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맑은 고딕"/>
              </a:rPr>
              <a:t>· 동일 입력 → 동일 경로 → 재현성 확보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4048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맑은 고딕"/>
              </a:rPr>
              <a:t>· 10개 모델 비교 : 수십 초 → 수 초 (DB 예정)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9651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맑은 고딕"/>
              </a:rPr>
              <a:t>· 신입 학습 곡선 단축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5166360"/>
            <a:ext cx="47091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52303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맑은 고딕"/>
              </a:rPr>
              <a:t>지원 장비 · 포맷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504688"/>
            <a:ext cx="4572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  <a:latin typeface="맑은 고딕"/>
              </a:rPr>
              <a:t>PNE (.cyc + SaveEnd.csv + channel_info.json + .log) · Toyo (TC CSV)</a:t>
            </a:r>
          </a:p>
          <a:p>
            <a:pPr algn="l"/>
            <a:r>
              <a:rPr sz="900" b="0" i="0">
                <a:solidFill>
                  <a:srgbClr val="444444"/>
                </a:solidFill>
                <a:latin typeface="맑은 고딕"/>
              </a:rPr>
              <a:t>신뢰성 .xls (Fasoo DRM) · .sch TC Plan · 코인/3전극 (DB 적재 예정)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1188720"/>
            <a:ext cx="6126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맑은 고딕"/>
              </a:rPr>
              <a:t>BDT 탭 구조 &amp; 4대 미션 매핑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1737360"/>
            <a:ext cx="61264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897880" y="1737360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맑은 고딕"/>
              </a:rPr>
              <a:t>현황/필터링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1737360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맑은 고딕"/>
              </a:rPr>
              <a:t>공통 기반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9800" y="1810512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9800" y="1810512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v4 (4/20) 완료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2221992"/>
            <a:ext cx="61264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897880" y="2221992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맑은 고딕"/>
              </a:rPr>
              <a:t>사이클데이터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22199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맑은 고딕"/>
              </a:rPr>
              <a:t>공통 기반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29800" y="2295144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29800" y="2295144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파이프라인 리팩터 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0" y="2706624"/>
            <a:ext cx="61264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897880" y="2706624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맑은 고딕"/>
              </a:rPr>
              <a:t>파형수정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2706624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맑은 고딕"/>
              </a:rPr>
              <a:t>미션 1 전처리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29800" y="2779776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29800" y="2779776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운영 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60720" y="3191256"/>
            <a:ext cx="61264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897880" y="3191256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맑은 고딕"/>
              </a:rPr>
              <a:t>셋 결과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3191256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맑은 고딕"/>
              </a:rPr>
              <a:t>수명·성능 요약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29800" y="3264408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29800" y="3264408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운영 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60720" y="3675888"/>
            <a:ext cx="61264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897880" y="3675888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맑은 고딕"/>
              </a:rPr>
              <a:t>dVdQ 분석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3675888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맑은 고딕"/>
              </a:rPr>
              <a:t>미션 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829800" y="3749040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D9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29800" y="3749040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스무딩 1차, 2Q 매칭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60720" y="4160520"/>
            <a:ext cx="61264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897880" y="4160520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맑은 고딕"/>
              </a:rPr>
              <a:t>Eu 수명예측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79" y="4160520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맑은 고딕"/>
              </a:rPr>
              <a:t>미션 4 보조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829800" y="4233672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29800" y="4233672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운영 중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60720" y="4645152"/>
            <a:ext cx="61264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897880" y="4645152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맑은 고딕"/>
              </a:rPr>
              <a:t>승인 수명예측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79" y="464515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맑은 고딕"/>
              </a:rPr>
              <a:t>미션 4 (승인)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829800" y="4718304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D9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29800" y="4718304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온도별 파라미터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760720" y="5129784"/>
            <a:ext cx="61264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5897880" y="5129784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맑은 고딕"/>
              </a:rPr>
              <a:t>실사용 수명예측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5279" y="5129784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맑은 고딕"/>
              </a:rPr>
              <a:t>미션 4 (실사용)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829800" y="5202936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D9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29800" y="5202936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상위 유저 기준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60720" y="5614416"/>
            <a:ext cx="612648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5897880" y="5614416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맑은 고딕"/>
              </a:rPr>
              <a:t>전기화학 Sim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55279" y="5614416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맑은 고딕"/>
              </a:rPr>
              <a:t>미션 3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829800" y="5687568"/>
            <a:ext cx="1965960" cy="292608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29800" y="5687568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P2D/SPM/SPMe 운영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1480" y="64922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맑은 고딕"/>
              </a:rPr>
              <a:t>선행Lab 성능/수명 파트 | BDT 현황 및 26년 계획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89920" y="649224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맑은 고딕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652760" y="201168"/>
            <a:ext cx="11887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652760" y="20116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C8102E"/>
                </a:solidFill>
                <a:latin typeface="맑은 고딕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502920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2E86AB"/>
                </a:solidFill>
                <a:latin typeface="맑은 고딕"/>
              </a:rPr>
              <a:t>Advanced Battery Lab.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96012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맑은 고딕"/>
              </a:rPr>
              <a:t>3. 미션 ① 소재 전기화학 물성 DB화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412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2E86AB"/>
                </a:solidFill>
                <a:latin typeface="맑은 고딕"/>
              </a:rPr>
              <a:t>코인 · 3전극 측정 → PostgreSQL 중앙 DB → 다중 모델 SELECT 비교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4114800" cy="5029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1307592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맑은 고딕"/>
              </a:rPr>
              <a:t>목표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274320" cy="2743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627632"/>
            <a:ext cx="3840480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맑은 고딕"/>
              </a:rPr>
              <a:t>· 수명 raw 폴더 분산 → 매번 재파싱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맑은 고딕"/>
              </a:rPr>
              <a:t>· Toyo 10 폴더 비교 : 20~50 초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맑은 고딕"/>
              </a:rPr>
              <a:t>· 신뢰성 .xls : Fasoo DRM (xlwings COM)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맑은 고딕"/>
              </a:rPr>
              <a:t>→ DB 적재 후 SELECT 1회로 다중 모델 비교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62072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맑은 고딕"/>
              </a:rPr>
              <a:t>BDT 역할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27248"/>
            <a:ext cx="274320" cy="2743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48640" y="3182112"/>
            <a:ext cx="3840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맑은 고딕"/>
              </a:rPr>
              <a:t>· PostgreSQL 스키마 설계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맑은 고딕"/>
              </a:rPr>
              <a:t>  (product / test_group / cycle_summary)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맑은 고딕"/>
              </a:rPr>
              <a:t>· db_connector 모듈 (SELECT-only)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맑은 고딕"/>
              </a:rPr>
              <a:t>· DB 서버 : NAS / 별도 → 다수 동접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" y="4187952"/>
            <a:ext cx="3977639" cy="2075688"/>
          </a:xfrm>
          <a:prstGeom prst="rect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76072" y="4251960"/>
            <a:ext cx="3794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맑은 고딕"/>
              </a:rPr>
              <a:t>◆ Science Note — GITT · 율별 충방전 · OCP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" y="4517136"/>
            <a:ext cx="274320" cy="27432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6072" y="4572000"/>
            <a:ext cx="3840480" cy="1664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◎ GITT 확산계수 (고체상 Fick):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  D_s = (4/πτ)·(mV_M/MS)²·(ΔE_s/ΔE_t)²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  → SPM / SPMe 핵심 파라미터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◎ 율별 충방전 → 분극 η · i₀ 추출: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  η = (RT/αF)·ln(i/i₀)  [Tafel]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  → Butler-Volmer 교환전류밀도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◎ Half coin (vs Li):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  단극 OCP U(x) · 이론 capacity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◎ 3-electrode (Li ref.):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  풀셀 중 양·음극 전위 개별 측정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1234440"/>
            <a:ext cx="7132320" cy="2331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937760" y="13258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맑은 고딕"/>
              </a:rPr>
              <a:t>1분기 실적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17373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맑은 고딕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173736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맑은 고딕"/>
              </a:rPr>
              <a:t>물성 파라미터 / DB 스키마 1차 설계 (3/20)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0665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맑은 고딕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066544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맑은 고딕"/>
              </a:rPr>
              <a:t>코인 · 3전극 측정 SOP 문서화 (3/22)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23957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맑은 고딕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2395728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맑은 고딕"/>
              </a:rPr>
              <a:t>신뢰성 .xls → CSV 변환 파이프라인 (DRM 대응)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3657600"/>
            <a:ext cx="7132320" cy="233172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937760" y="3749039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맑은 고딕"/>
              </a:rPr>
              <a:t>2분기 계획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4160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C00"/>
                </a:solidFill>
                <a:latin typeface="맑은 고딕"/>
              </a:rPr>
              <a:t>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16052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맑은 고딕"/>
              </a:rPr>
              <a:t>BDT 내 DB 탭 신설 (읽기 전용 클라이언트)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448970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C00"/>
                </a:solidFill>
                <a:latin typeface="맑은 고딕"/>
              </a:rPr>
              <a:t>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4489704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맑은 고딕"/>
              </a:rPr>
              <a:t>업체 수급 물성값 → DB 1차 적재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48188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C00"/>
                </a:solidFill>
                <a:latin typeface="맑은 고딕"/>
              </a:rPr>
              <a:t>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818888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맑은 고딕"/>
              </a:rPr>
              <a:t>Q8 main/sub 스펙시트 입수 후 반영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6080760"/>
            <a:ext cx="71323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892040" y="60807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C8102E"/>
                </a:solidFill>
                <a:latin typeface="맑은 고딕"/>
              </a:rPr>
              <a:t>⚠ Risk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6080760"/>
            <a:ext cx="6080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맑은 고딕"/>
              </a:rPr>
              <a:t>DRM 환경 .xlsx 차단 → 번들 txt + 차트 PNG 재설계 회피 (4/15~20 개편 완료)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922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맑은 고딕"/>
              </a:rPr>
              <a:t>선행Lab 성능/수명 파트 | BDT 현황 및 26년 계획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49224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맑은 고딕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652760" y="201168"/>
            <a:ext cx="11887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652760" y="20116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C8102E"/>
                </a:solidFill>
                <a:latin typeface="맑은 고딕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502920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2E86AB"/>
                </a:solidFill>
                <a:latin typeface="맑은 고딕"/>
              </a:rPr>
              <a:t>Advanced Battery Lab.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96012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맑은 고딕"/>
              </a:rPr>
              <a:t>4. 미션 ② dV/dQ 양음극 분리 (열화 모드)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412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2E86AB"/>
                </a:solidFill>
                <a:latin typeface="맑은 고딕"/>
              </a:rPr>
              <a:t>풀셀 dV/dQ 를 양·음극 성분으로 분리 → LLI (Li 재고손실) / LAM (활물질손실) 정량화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4114800" cy="5029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1307592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맑은 고딕"/>
              </a:rPr>
              <a:t>목표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274320" cy="2743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627632"/>
            <a:ext cx="3840480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맑은 고딕"/>
              </a:rPr>
              <a:t>· 셀 용량 bar 모델 ↔ slip (Li 재고)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맑은 고딕"/>
              </a:rPr>
              <a:t>· 열화 모드 규명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맑은 고딕"/>
              </a:rPr>
              <a:t>   LLI : SEI 성장 · Li plating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맑은 고딕"/>
              </a:rPr>
              <a:t>   LAM : 활물질 crack · delamination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맑은 고딕"/>
              </a:rPr>
              <a:t>→ 셀 설계 / 수명 예측 피드백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62072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맑은 고딕"/>
              </a:rPr>
              <a:t>BDT 역할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27248"/>
            <a:ext cx="274320" cy="2743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48640" y="3182112"/>
            <a:ext cx="3840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맑은 고딕"/>
              </a:rPr>
              <a:t>· dVdQ 분석 탭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맑은 고딕"/>
              </a:rPr>
              <a:t>· 풀셀 곡선 스무딩 + 단극 OCV 매칭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맑은 고딕"/>
              </a:rPr>
              <a:t>  (Gr / Si / NMC)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맑은 고딕"/>
              </a:rPr>
              <a:t>· 열화 셀 slip · mass → LAM · LLI 분리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" y="4187952"/>
            <a:ext cx="3977639" cy="2075688"/>
          </a:xfrm>
          <a:prstGeom prst="rect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76072" y="4251960"/>
            <a:ext cx="3794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맑은 고딕"/>
              </a:rPr>
              <a:t>◆ Science Note — dV/dQ 피크 해석 (열화 시그니처)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" y="4517136"/>
            <a:ext cx="274320" cy="27432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6072" y="4572000"/>
            <a:ext cx="3840480" cy="1664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◎ dV/dQ = OCV 기울기 (V/Ah)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  피크 = 상전이 (stage transition)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◎ Graphite : LiC₆ ↔ LiC₁₂ ↔ LiC₂₇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  → SOC별 특징 피크 3~4 개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◎ 열화 시그니처: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  • 피크 이동 (slip)  → LLI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  • 피크 높이 감소    → LAM_NE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  • 양극 피크 수축    → LAM_PE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  • 피크 폭 변화      → R_ct 증가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◎ 3-bar 모델: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  Q_cell ↔ Q_pos·m_pos ↔ Q_neg·m_neg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1234440"/>
            <a:ext cx="7132320" cy="2331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937760" y="13258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맑은 고딕"/>
              </a:rPr>
              <a:t>1분기 실적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17373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맑은 고딕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173736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맑은 고딕"/>
              </a:rPr>
              <a:t>dVdQ 스무딩 로직 이식 (규섭님 주도)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0665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맑은 고딕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066544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맑은 고딕"/>
              </a:rPr>
              <a:t>단위 음극 (Gr / Si) OCV 모델 구축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23957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맑은 고딕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2395728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맑은 고딕"/>
              </a:rPr>
              <a:t>M2 양음극 코인셀 data @ S.LSI 1차 확보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3657600"/>
            <a:ext cx="7132320" cy="233172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937760" y="3749039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맑은 고딕"/>
              </a:rPr>
              <a:t>2분기 계획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4160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C00"/>
                </a:solidFill>
                <a:latin typeface="맑은 고딕"/>
              </a:rPr>
              <a:t>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16052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맑은 고딕"/>
              </a:rPr>
              <a:t>풀셀 ↔ 단극 피크 슬라이딩 · 매칭 알고리즘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448970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C00"/>
                </a:solidFill>
                <a:latin typeface="맑은 고딕"/>
              </a:rPr>
              <a:t>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4489704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맑은 고딕"/>
              </a:rPr>
              <a:t>핵심 열화 모드 (LLI · LAM_PE · LAM_NE) 자동 추출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48188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C00"/>
                </a:solidFill>
                <a:latin typeface="맑은 고딕"/>
              </a:rPr>
              <a:t>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818888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맑은 고딕"/>
              </a:rPr>
              <a:t>3Q : Tool 내부 dVdQ 분석 탭 최종 통합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514807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C00"/>
                </a:solidFill>
                <a:latin typeface="맑은 고딕"/>
              </a:rPr>
              <a:t>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5148072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맑은 고딕"/>
              </a:rPr>
              <a:t>4Q : 다수 사이클 열화 트렌드 자동 분석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6080760"/>
            <a:ext cx="71323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892040" y="60807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C8102E"/>
                </a:solidFill>
                <a:latin typeface="맑은 고딕"/>
              </a:rPr>
              <a:t>⚠ Risk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6080760"/>
            <a:ext cx="6080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맑은 고딕"/>
              </a:rPr>
              <a:t>양음극 OCP profile 별도 확보 필수 — M2 완료, M1 / Q8 순차 진행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64922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맑은 고딕"/>
              </a:rPr>
              <a:t>선행Lab 성능/수명 파트 | BDT 현황 및 26년 계획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49224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맑은 고딕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652760" y="201168"/>
            <a:ext cx="11887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652760" y="20116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C8102E"/>
                </a:solidFill>
                <a:latin typeface="맑은 고딕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502920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2E86AB"/>
                </a:solidFill>
                <a:latin typeface="맑은 고딕"/>
              </a:rPr>
              <a:t>Advanced Battery Lab.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96012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맑은 고딕"/>
              </a:rPr>
              <a:t>5. 미션 ③ 성능 시뮬레이션 (전기화학)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412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2E86AB"/>
                </a:solidFill>
                <a:latin typeface="맑은 고딕"/>
              </a:rPr>
              <a:t>PyBaMM 기반 P2D · SPMe · SPM — 온도 · 충전 조건별 성능 예측 + 리튬 석출 risk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4114800" cy="5029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1307592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맑은 고딕"/>
              </a:rPr>
              <a:t>목표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274320" cy="2743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627632"/>
            <a:ext cx="3840480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맑은 고딕"/>
              </a:rPr>
              <a:t>· 설계 경쟁력 강화 · 개발 지원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맑은 고딕"/>
              </a:rPr>
              <a:t>· 모델 선택 (복잡도 ↔ 정확도)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맑은 고딕"/>
              </a:rPr>
              <a:t>   P2D / DFN  (고정밀)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맑은 고딕"/>
              </a:rPr>
              <a:t>   SPMe · SPM (경량 · ROM)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맑은 고딕"/>
              </a:rPr>
              <a:t>· Embedded ROM 타겟 : BMS 탑재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62072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맑은 고딕"/>
              </a:rPr>
              <a:t>BDT 역할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27248"/>
            <a:ext cx="274320" cy="2743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48640" y="3182112"/>
            <a:ext cx="3840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맑은 고딕"/>
              </a:rPr>
              <a:t>· 전기화학 시뮬레이션 탭 (Chen2020)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맑은 고딕"/>
              </a:rPr>
              <a:t>· 운영 : CC/CCCV · GITT · HPPC · 커스텀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맑은 고딕"/>
              </a:rPr>
              <a:t>· 출력 : 양/음극 OCP · 표면 Li · η_neg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맑은 고딕"/>
              </a:rPr>
              <a:t>· 4/19 OSS 14종 비교 → PyBOP 통합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" y="4187952"/>
            <a:ext cx="3977639" cy="2075688"/>
          </a:xfrm>
          <a:prstGeom prst="rect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76072" y="4251960"/>
            <a:ext cx="3794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맑은 고딕"/>
              </a:rPr>
              <a:t>◆ Science Note — DFN · Butler-Volmer · Li plating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" y="4517136"/>
            <a:ext cx="274320" cy="27432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6072" y="4572000"/>
            <a:ext cx="3840480" cy="1664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◎ DFN (Doyle-Fuller-Newman, P2D):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  고체  ∂c/∂t = D_s·∇²c   [Fick]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  전해액  Nernst-Planck + 전하보존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  계면  i = i₀[e^(αFη/RT) − e^(-(1-α)Fη/RT)]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        (Butler-Volmer)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◎ Li plating 조건: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  η_neg = φ_s − φ_l − U_neg &lt; 0 V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  → Safety margin ≥ 0.02 V (고율)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◎ Arrhenius 온도 의존성: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  k(T) = A·exp(−E_a/RT)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  SEI E_a ≈ 20~80 kJ/mol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1234440"/>
            <a:ext cx="7132320" cy="2331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937760" y="13258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맑은 고딕"/>
              </a:rPr>
              <a:t>1분기 실적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17373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맑은 고딕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173736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맑은 고딕"/>
              </a:rPr>
              <a:t>오픈소스 기반 모델 UI 구축 (탭 단위 통합)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0665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맑은 고딕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066544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맑은 고딕"/>
              </a:rPr>
              <a:t>충 · 방전 / GITT / HPPC 시뮬레이션 (문헌 기반)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23957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맑은 고딕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2395728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맑은 고딕"/>
              </a:rPr>
              <a:t>전기화학 OSS 14종 비교 딥서치 (4/19) — PyBOP 통합 방향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27249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맑은 고딕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2724912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맑은 고딕"/>
              </a:rPr>
              <a:t>PyBaMM 변수 전수 조사 PPT 확보 (4/11)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3657600"/>
            <a:ext cx="7132320" cy="233172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937760" y="3749039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맑은 고딕"/>
              </a:rPr>
              <a:t>2분기 계획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4160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C00"/>
                </a:solidFill>
                <a:latin typeface="맑은 고딕"/>
              </a:rPr>
              <a:t>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416052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맑은 고딕"/>
              </a:rPr>
              <a:t>기본 모델 캘리브레이션 (실측 vs Sim 편차 ≤ 3 %)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448970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C00"/>
                </a:solidFill>
                <a:latin typeface="맑은 고딕"/>
              </a:rPr>
              <a:t>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489704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맑은 고딕"/>
              </a:rPr>
              <a:t>Arrhenius 온도 의존성 (저/고온) 부여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48188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C00"/>
                </a:solidFill>
                <a:latin typeface="맑은 고딕"/>
              </a:rPr>
              <a:t>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4818888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맑은 고딕"/>
              </a:rPr>
              <a:t>PyBOP (BSD-3) 통합 — 셀별 파라미터 역추정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514807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C00"/>
                </a:solidFill>
                <a:latin typeface="맑은 고딕"/>
              </a:rPr>
              <a:t>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5148072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맑은 고딕"/>
              </a:rPr>
              <a:t>3Q : 급속 스텝 → Li plating risk 도출 SW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4880" y="6080760"/>
            <a:ext cx="71323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892040" y="60807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C8102E"/>
                </a:solidFill>
                <a:latin typeface="맑은 고딕"/>
              </a:rPr>
              <a:t>⚠ Risk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0" y="6080760"/>
            <a:ext cx="6080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맑은 고딕"/>
              </a:rPr>
              <a:t>OSS 라이선스 경계 — cideMOD/CIDETEC PINN = AGPL (직접 포함 X), Wen PINN LICENSE 미명시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64922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맑은 고딕"/>
              </a:rPr>
              <a:t>선행Lab 성능/수명 파트 | BDT 현황 및 26년 계획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49224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맑은 고딕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652760" y="201168"/>
            <a:ext cx="11887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652760" y="20116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C8102E"/>
                </a:solidFill>
                <a:latin typeface="맑은 고딕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502920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2E86AB"/>
                </a:solidFill>
                <a:latin typeface="맑은 고딕"/>
              </a:rPr>
              <a:t>Advanced Battery Lab.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96012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맑은 고딕"/>
              </a:rPr>
              <a:t>6. 미션 ④ 수명 예측 (Empirical 모델)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412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2E86AB"/>
                </a:solidFill>
                <a:latin typeface="맑은 고딕"/>
              </a:rPr>
              <a:t>평가환경 matrix (온도 · C-rate · 하한 SOC · 저장) → 수명 파라미터 → EOL 자동 예측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4114800" cy="5029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1307592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맑은 고딕"/>
              </a:rPr>
              <a:t>목표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274320" cy="2743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627632"/>
            <a:ext cx="3840480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맑은 고딕"/>
              </a:rPr>
              <a:t>· 상품화(승인) 수명 — PF / 업체별 trend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맑은 고딕"/>
              </a:rPr>
              <a:t>· 실사용 수명 — 상위 유저(고온·만충)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맑은 고딕"/>
              </a:rPr>
              <a:t>· 평가환경 5축 :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맑은 고딕"/>
              </a:rPr>
              <a:t>   온도 / 복합(충전 후 5·12hr)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맑은 고딕"/>
              </a:rPr>
              <a:t>   방전 C-rate / 하한 SOC / 저장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62072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맑은 고딕"/>
              </a:rPr>
              <a:t>BDT 역할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27248"/>
            <a:ext cx="274320" cy="2743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48640" y="3182112"/>
            <a:ext cx="3840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맑은 고딕"/>
              </a:rPr>
              <a:t>· 승인 · 실사용 수명예측 탭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맑은 고딕"/>
              </a:rPr>
              <a:t>· folderble → 파라미터 자동 도출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맑은 고딕"/>
              </a:rPr>
              <a:t>· 1,500일 capacity · swelling 예측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맑은 고딕"/>
              </a:rPr>
              <a:t>· EOL (SOH 80 %) 자동 계산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" y="4187952"/>
            <a:ext cx="3977639" cy="2075688"/>
          </a:xfrm>
          <a:prstGeom prst="rect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76072" y="4251960"/>
            <a:ext cx="3794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맑은 고딕"/>
              </a:rPr>
              <a:t>◆ Science Note — Capacity Fade · Calendar/Cycle 분리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" y="4517136"/>
            <a:ext cx="274320" cy="27432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6072" y="4572000"/>
            <a:ext cx="3840480" cy="1664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◎ 통합 fade 모델 (BDT):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  Q(n) = 1 − a·n^b − c·exp(d·(n−e))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       └ power law ┘└ knee exp ┘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  · b ≈ 0.5 → SEI diffusion-lim.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  · exp 항  → plating · crack 가속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◎ Calendar fade (저장):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  ΔQ_cal = k₀·√t · exp(−E_a/RT)·f(SOC)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◎ Cycle fade (운행):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  ΔQ_cyc = g(DOD, C_chg, V_min)·n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◎ Si 특수성 (2Q 계수 추가):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  부피팽창 ~300 % → SEI 재생 반복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  저전위(V_min) stress 민감 큼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Consolas"/>
              </a:rPr>
              <a:t>  → 하한전압 열화계수 필수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1234440"/>
            <a:ext cx="7132320" cy="2331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937760" y="13258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맑은 고딕"/>
              </a:rPr>
              <a:t>1분기 실적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17373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맑은 고딕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173736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맑은 고딕"/>
              </a:rPr>
              <a:t>온도별 열화 파라미터 도출 (folderble)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0665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맑은 고딕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066544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맑은 고딕"/>
              </a:rPr>
              <a:t>Cell / SET Capacity · Swelling 1,500일 예측 곡선 구현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3657600"/>
            <a:ext cx="7132320" cy="233172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937760" y="3749039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맑은 고딕"/>
              </a:rPr>
              <a:t>2분기 계획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160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C00"/>
                </a:solidFill>
                <a:latin typeface="맑은 고딕"/>
              </a:rPr>
              <a:t>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416052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맑은 고딕"/>
              </a:rPr>
              <a:t>Si 하한 전압 열화 계수 추가 (Si 고함량 편차 축소)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448970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C00"/>
                </a:solidFill>
                <a:latin typeface="맑은 고딕"/>
              </a:rPr>
              <a:t>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489704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맑은 고딕"/>
              </a:rPr>
              <a:t>승인 / 실사용 시나리오 EOL 예측 기능화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48188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C00"/>
                </a:solidFill>
                <a:latin typeface="맑은 고딕"/>
              </a:rPr>
              <a:t>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4818888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맑은 고딕"/>
              </a:rPr>
              <a:t>온도별 수명 데이터 수급 (23 · 35 · 45 ℃)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514807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7C00"/>
                </a:solidFill>
                <a:latin typeface="맑은 고딕"/>
              </a:rPr>
              <a:t>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5148072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맑은 고딕"/>
              </a:rPr>
              <a:t>3Q : 다조건 비교 + 수명 예측 자동화 리포트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6080760"/>
            <a:ext cx="71323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892040" y="60807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C8102E"/>
                </a:solidFill>
                <a:latin typeface="맑은 고딕"/>
              </a:rPr>
              <a:t>⚠ Risk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6080760"/>
            <a:ext cx="6080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  <a:latin typeface="맑은 고딕"/>
              </a:rPr>
              <a:t>온도별 수명 raw 수급 선결 — 미수급 시 2Q 캘리브 ↔ 4Q 트렌드 지연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922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맑은 고딕"/>
              </a:rPr>
              <a:t>선행Lab 성능/수명 파트 | BDT 현황 및 26년 계획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49224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맑은 고딕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652760" y="201168"/>
            <a:ext cx="11887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652760" y="20116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C8102E"/>
                </a:solidFill>
                <a:latin typeface="맑은 고딕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502920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2E86AB"/>
                </a:solidFill>
                <a:latin typeface="맑은 고딕"/>
              </a:rPr>
              <a:t>Advanced Battery Lab.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96012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맑은 고딕"/>
              </a:rPr>
              <a:t>7. 4월 개발 실적 하이라이트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412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2E86AB"/>
                </a:solidFill>
                <a:latin typeface="맑은 고딕"/>
              </a:rPr>
              <a:t>162 커밋 / 4개 카테고리 — 공통 기반 · 분석 · DRM · 테스트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54864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182880" cy="25603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13258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맑은 고딕"/>
              </a:rPr>
              <a:t>공통 기반 강화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1280160"/>
            <a:ext cx="1737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600" b="1" i="0">
                <a:solidFill>
                  <a:srgbClr val="1E2761"/>
                </a:solidFill>
                <a:latin typeface="맑은 고딕"/>
              </a:rPr>
              <a:t>6건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828800"/>
            <a:ext cx="4937760" cy="1828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31520" y="194767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맑은 고딕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94767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맑은 고딕"/>
              </a:rPr>
              <a:t>사이클 파이프라인 6단계 리팩터 (4/12)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402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맑은 고딕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2402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맑은 고딕"/>
              </a:rPr>
              <a:t>Logical cycle 3단 (TotlCycle↔논리↔OriCyc)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53288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맑은 고딕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53288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맑은 고딕"/>
              </a:rPr>
              <a:t>Unified Profile (PNE/Toyo 공통)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82549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맑은 고딕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82549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맑은 고딕"/>
              </a:rPr>
              <a:t>현황 탭 분류 v4 (JSON 1순위 + 교차검증)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118104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맑은 고딕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11810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맑은 고딕"/>
              </a:rPr>
              <a:t>TC Plan .sch 기반 — Tier 2 recall 98.89 %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41071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맑은 고딕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41071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맑은 고딕"/>
              </a:rPr>
              <a:t>ECT path 재정비 (Rest 체크, TC 힌트)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234440"/>
            <a:ext cx="54864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309360" y="1234440"/>
            <a:ext cx="182880" cy="25603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629400" y="13258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맑은 고딕"/>
              </a:rPr>
              <a:t>분석 기능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1280160"/>
            <a:ext cx="1737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600" b="1" i="0">
                <a:solidFill>
                  <a:srgbClr val="028090"/>
                </a:solidFill>
                <a:latin typeface="맑은 고딕"/>
              </a:rPr>
              <a:t>5건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29400" y="1828800"/>
            <a:ext cx="4937760" cy="1828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629400" y="194767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맑은 고딕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194767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맑은 고딕"/>
              </a:rPr>
              <a:t>프로파일 옵션 재설계 + 프리셋 + DOD축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224028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맑은 고딕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22402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맑은 고딕"/>
              </a:rPr>
              <a:t>히스테리시스 major 임계값 0.98 상향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253288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맑은 고딕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253288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맑은 고딕"/>
              </a:rPr>
              <a:t>F1 GITT D_s 심화 분석 도구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282549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맑은 고딕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282549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맑은 고딕"/>
              </a:rPr>
              <a:t>ampworks F1~F8 차용 분석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3118104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맑은 고딕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311810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맑은 고딕"/>
              </a:rPr>
              <a:t>사이클 분류 9종 체계 (Phase 0/1/2)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3931920"/>
            <a:ext cx="54864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411480" y="3931920"/>
            <a:ext cx="182880" cy="25603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31520" y="40233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맑은 고딕"/>
              </a:rPr>
              <a:t>DRM 대응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69080" y="3977640"/>
            <a:ext cx="1737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600" b="1" i="0">
                <a:solidFill>
                  <a:srgbClr val="C8102E"/>
                </a:solidFill>
                <a:latin typeface="맑은 고딕"/>
              </a:rPr>
              <a:t>환경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4526280"/>
            <a:ext cx="4937760" cy="1828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31520" y="464515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8102E"/>
                </a:solidFill>
                <a:latin typeface="맑은 고딕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64515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맑은 고딕"/>
              </a:rPr>
              <a:t>Fasoo DRM : .xlsx/.pptx/.png/.csv 차단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493776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8102E"/>
                </a:solidFill>
                <a:latin typeface="맑은 고딕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49377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맑은 고딕"/>
              </a:rPr>
              <a:t>통과 가능 : 첫 줄 공란 .txt 전용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523036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8102E"/>
                </a:solidFill>
                <a:latin typeface="맑은 고딕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523036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맑은 고딕"/>
              </a:rPr>
              <a:t>--pack / --unpack OOXML base64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552297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8102E"/>
                </a:solidFill>
                <a:latin typeface="맑은 고딕"/>
              </a:rPr>
              <a:t>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552297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맑은 고딕"/>
              </a:rPr>
              <a:t>--to-xlsx / pdf / docx / pptx 양방향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5815584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8102E"/>
                </a:solidFill>
                <a:latin typeface="맑은 고딕"/>
              </a:rP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581558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맑은 고딕"/>
              </a:rPr>
              <a:t>교훈 : 사외 COM 에러 = 환경 제약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9360" y="3931920"/>
            <a:ext cx="54864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6309360" y="3931920"/>
            <a:ext cx="182880" cy="256032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629400" y="40233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맑은 고딕"/>
              </a:rPr>
              <a:t>테스트 커버리지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66960" y="3977640"/>
            <a:ext cx="1737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600" b="1" i="0">
                <a:solidFill>
                  <a:srgbClr val="2C5F2D"/>
                </a:solidFill>
                <a:latin typeface="맑은 고딕"/>
              </a:rPr>
              <a:t>3계층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29400" y="4526280"/>
            <a:ext cx="4937760" cy="18288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629400" y="464515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C5F2D"/>
                </a:solidFill>
                <a:latin typeface="맑은 고딕"/>
              </a:rPr>
              <a:t>•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12280" y="464515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맑은 고딕"/>
              </a:rPr>
              <a:t>E2E 자동화 (사이클데이터 탭 수동루틴 재현)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29400" y="493776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C5F2D"/>
                </a:solidFill>
                <a:latin typeface="맑은 고딕"/>
              </a:rPr>
              <a:t>•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12280" y="49377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맑은 고딕"/>
              </a:rPr>
              <a:t>Plot 검증 Layer 4a (픽셀 단위 비교)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29400" y="523036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C5F2D"/>
                </a:solidFill>
                <a:latin typeface="맑은 고딕"/>
              </a:rPr>
              <a:t>•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12280" y="523036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맑은 고딕"/>
              </a:rPr>
              <a:t>TC Plan / Tier 2 / GUI 스모크 통합 검증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1480" y="64922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맑은 고딕"/>
              </a:rPr>
              <a:t>선행Lab 성능/수명 파트 | BDT 현황 및 26년 계획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789920" y="649224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맑은 고딕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652760" y="201168"/>
            <a:ext cx="118872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652760" y="20116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C8102E"/>
                </a:solidFill>
                <a:latin typeface="맑은 고딕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502920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2E86AB"/>
                </a:solidFill>
                <a:latin typeface="맑은 고딕"/>
              </a:rPr>
              <a:t>Advanced Battery Lab.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96012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맑은 고딕"/>
              </a:rPr>
              <a:t>8. 2분기 핵심 과제 &amp; 그룹장 협조 요청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6675120" cy="512064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118872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맑은 고딕"/>
              </a:rPr>
              <a:t>2분기 핵심 과제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8102E"/>
                </a:solidFill>
                <a:latin typeface="맑은 고딕"/>
              </a:rPr>
              <a:t>반드시 끝내야 하는 것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057400"/>
            <a:ext cx="6400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85800" y="2139696"/>
            <a:ext cx="292608" cy="29260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3969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574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맑은 고딕"/>
              </a:rPr>
              <a:t>DB UI 연동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2148840"/>
            <a:ext cx="777240" cy="27432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80" y="214884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미션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0574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맑은 고딕"/>
              </a:rPr>
              <a:t>BDT 내 DB 탭 · 읽기 전용 클라이언트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560320"/>
            <a:ext cx="6400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85800" y="2642616"/>
            <a:ext cx="292608" cy="29260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64261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5603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맑은 고딕"/>
              </a:rPr>
              <a:t>풀셀 ↔ 단극 매칭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54680" y="2651760"/>
            <a:ext cx="777240" cy="27432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54680" y="265176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미션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25603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맑은 고딕"/>
              </a:rPr>
              <a:t>피크 슬라이딩 · LLI/LAM 자동 추출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3063240"/>
            <a:ext cx="6400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685800" y="3145536"/>
            <a:ext cx="292608" cy="29260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14553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0632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맑은 고딕"/>
              </a:rPr>
              <a:t>베이스 모델 캘리브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54680" y="3154680"/>
            <a:ext cx="777240" cy="27432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54680" y="31546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미션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30632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맑은 고딕"/>
              </a:rPr>
              <a:t>실측 vs Sim 편차 ≤ 3 %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3566160"/>
            <a:ext cx="6400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685800" y="3648456"/>
            <a:ext cx="292608" cy="29260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64845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35661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맑은 고딕"/>
              </a:rPr>
              <a:t>Si 하한 전압 계수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54680" y="3657600"/>
            <a:ext cx="777240" cy="27432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4680" y="365760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미션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60" y="35661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맑은 고딕"/>
              </a:rPr>
              <a:t>Si 고함량 셀 예측 오차 축소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20624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맑은 고딕"/>
              </a:rPr>
              <a:t>병행 과제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57200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28090"/>
                </a:solidFill>
                <a:latin typeface="맑은 고딕"/>
              </a:rPr>
              <a:t>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57200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맑은 고딕"/>
              </a:rPr>
              <a:t>Arrhenius 온도 의존성 (미션 3)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09744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28090"/>
                </a:solidFill>
                <a:latin typeface="맑은 고딕"/>
              </a:rPr>
              <a:t>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809744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맑은 고딕"/>
              </a:rPr>
              <a:t>승인 / 실사용 EOL 시나리오 (미션 4)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047488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28090"/>
                </a:solidFill>
                <a:latin typeface="맑은 고딕"/>
              </a:rPr>
              <a:t>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047488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맑은 고딕"/>
              </a:rPr>
              <a:t>온도별 수명 데이터 수급 (23/35/45℃)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28523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28090"/>
                </a:solidFill>
                <a:latin typeface="맑은 고딕"/>
              </a:rPr>
              <a:t>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528523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맑은 고딕"/>
              </a:rPr>
              <a:t>PyBOP 통합 기초 작업 (미션 3, 4 연계)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69480" y="1097280"/>
            <a:ext cx="4617720" cy="5120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452360" y="1188720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CADCFC"/>
                </a:solidFill>
                <a:latin typeface="맑은 고딕"/>
              </a:rPr>
              <a:t>그룹장 협조 요청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52360" y="1600200"/>
            <a:ext cx="457200" cy="3657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7452360" y="1874520"/>
            <a:ext cx="347472" cy="347472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52360" y="187452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09560" y="182880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DB 서버 / NAS 할당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09560" y="228600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CADCFC"/>
                </a:solidFill>
                <a:latin typeface="맑은 고딕"/>
              </a:rPr>
              <a:t>미션 1 DB 파이프라인 선결 조건</a:t>
            </a:r>
          </a:p>
        </p:txBody>
      </p:sp>
      <p:sp>
        <p:nvSpPr>
          <p:cNvPr id="53" name="Oval 52"/>
          <p:cNvSpPr/>
          <p:nvPr/>
        </p:nvSpPr>
        <p:spPr>
          <a:xfrm>
            <a:off x="7452360" y="2953512"/>
            <a:ext cx="347472" cy="347472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52360" y="295351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09560" y="2907792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온도별 수명 데이터 수급</a:t>
            </a:r>
          </a:p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(23 · 35 · 45 ℃)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09560" y="3364992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CADCFC"/>
                </a:solidFill>
                <a:latin typeface="맑은 고딕"/>
              </a:rPr>
              <a:t>미션 4 Si 계수 · EOL 검증</a:t>
            </a:r>
          </a:p>
        </p:txBody>
      </p:sp>
      <p:sp>
        <p:nvSpPr>
          <p:cNvPr id="57" name="Oval 56"/>
          <p:cNvSpPr/>
          <p:nvPr/>
        </p:nvSpPr>
        <p:spPr>
          <a:xfrm>
            <a:off x="7452360" y="4032504"/>
            <a:ext cx="347472" cy="347472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52360" y="403250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09560" y="3986784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Q8 main / sub</a:t>
            </a:r>
          </a:p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업체 spec sheet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09560" y="4443984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CADCFC"/>
                </a:solidFill>
                <a:latin typeface="맑은 고딕"/>
              </a:rPr>
              <a:t>미션 1 DB 초기 적재</a:t>
            </a:r>
          </a:p>
        </p:txBody>
      </p:sp>
      <p:sp>
        <p:nvSpPr>
          <p:cNvPr id="61" name="Oval 60"/>
          <p:cNvSpPr/>
          <p:nvPr/>
        </p:nvSpPr>
        <p:spPr>
          <a:xfrm>
            <a:off x="7452360" y="5111496"/>
            <a:ext cx="347472" cy="347472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52360" y="511149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09560" y="5065776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PF / SDI / ATL / COSMX</a:t>
            </a:r>
          </a:p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셀 수급 일정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09560" y="5522976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CADCFC"/>
                </a:solidFill>
                <a:latin typeface="맑은 고딕"/>
              </a:rPr>
              <a:t>2Q 실험 계획 확정 (dVdQ 포함)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1480" y="64922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맑은 고딕"/>
              </a:rPr>
              <a:t>선행Lab 성능/수명 파트 | BDT 현황 및 26년 계획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789920" y="649224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88888"/>
                </a:solidFill>
                <a:latin typeface="맑은 고딕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