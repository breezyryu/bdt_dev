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BDT 전기화학 시뮬레이션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P2D 모델 기반 셀 해석 플랫폼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63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배터리 개발그룹 기술 공유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C6E8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목차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399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P2D 모델 구조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6550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스케일 구조와 물리적 의미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075688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지배방정식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3134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전해질 수송, 고상 확산, 전하 보존, Butler-Volmer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734056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715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시뮬레이션 기능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971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선택, 프리셋, 충방전 패턴 설정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392424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3741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 출력 해석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630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전압 분석, 전극 밸런스, 열 해석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050792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50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032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현황 및 로드맵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2885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문헌값 → 실측값 전환 계획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1417320"/>
            <a:ext cx="36576" cy="3108960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13232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시간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MODEL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P2D 모델의 두 스케일 구조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76809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C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 Two-Dimensional Model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600200"/>
            <a:ext cx="64008" cy="1051560"/>
          </a:xfrm>
          <a:prstGeom prst="rect">
            <a:avLst/>
          </a:prstGeom>
          <a:solidFill>
            <a:srgbClr val="2C6E8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1: 셀 두께 방향 (x)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965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음극 → 분리막 → 양극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전해질 내 Li⁺ 농도/전위 분포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고상(전극) 전위 분포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834640"/>
            <a:ext cx="64008" cy="1051560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2: 입자 반경 방향 (r)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200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활물질 입자 내부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고상 Li 확산 (Fick's 2nd law)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표면 농도 → Butler-Volmer 반응속도 결정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1188720"/>
            <a:ext cx="34747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49240" y="1600200"/>
            <a:ext cx="1005840" cy="1828800"/>
          </a:xfrm>
          <a:prstGeom prst="rect">
            <a:avLst/>
          </a:prstGeom>
          <a:solidFill>
            <a:srgbClr val="D1E8E2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6459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(Anode)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46520" y="1600200"/>
            <a:ext cx="640080" cy="182880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분리막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(Sep.)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78040" y="1600200"/>
            <a:ext cx="1005840" cy="1828800"/>
          </a:xfrm>
          <a:prstGeom prst="rect">
            <a:avLst/>
          </a:prstGeom>
          <a:solidFill>
            <a:srgbClr val="F8D7DA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16459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(Cathode)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0680" y="2423160"/>
            <a:ext cx="320040" cy="320040"/>
          </a:xfrm>
          <a:prstGeom prst="ellipse">
            <a:avLst/>
          </a:prstGeom>
          <a:solidFill>
            <a:srgbClr val="2C6E8A">
              <a:alpha val="70000"/>
            </a:srgbClr>
          </a:solidFill>
          <a:ln w="12700">
            <a:solidFill>
              <a:srgbClr val="2C6E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06440" y="2697480"/>
            <a:ext cx="320040" cy="320040"/>
          </a:xfrm>
          <a:prstGeom prst="ellipse">
            <a:avLst/>
          </a:prstGeom>
          <a:solidFill>
            <a:srgbClr val="2C6E8A">
              <a:alpha val="70000"/>
            </a:srgbClr>
          </a:solidFill>
          <a:ln w="12700">
            <a:solidFill>
              <a:srgbClr val="2C6E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32120" y="3017520"/>
            <a:ext cx="320040" cy="320040"/>
          </a:xfrm>
          <a:prstGeom prst="ellipse">
            <a:avLst/>
          </a:prstGeom>
          <a:solidFill>
            <a:srgbClr val="2C6E8A">
              <a:alpha val="70000"/>
            </a:srgbClr>
          </a:solidFill>
          <a:ln w="12700">
            <a:solidFill>
              <a:srgbClr val="2C6E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69480" y="2423160"/>
            <a:ext cx="320040" cy="320040"/>
          </a:xfrm>
          <a:prstGeom prst="ellipse">
            <a:avLst/>
          </a:prstGeom>
          <a:solidFill>
            <a:srgbClr val="2C6E8A">
              <a:alpha val="70000"/>
            </a:srgbClr>
          </a:solidFill>
          <a:ln w="12700">
            <a:solidFill>
              <a:srgbClr val="2C6E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35240" y="2697480"/>
            <a:ext cx="320040" cy="320040"/>
          </a:xfrm>
          <a:prstGeom prst="ellipse">
            <a:avLst/>
          </a:prstGeom>
          <a:solidFill>
            <a:srgbClr val="2C6E8A">
              <a:alpha val="70000"/>
            </a:srgbClr>
          </a:solidFill>
          <a:ln w="12700">
            <a:solidFill>
              <a:srgbClr val="2C6E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3017520"/>
            <a:ext cx="320040" cy="320040"/>
          </a:xfrm>
          <a:prstGeom prst="ellipse">
            <a:avLst/>
          </a:prstGeom>
          <a:solidFill>
            <a:srgbClr val="2C6E8A">
              <a:alpha val="70000"/>
            </a:srgbClr>
          </a:solidFill>
          <a:ln w="12700">
            <a:solidFill>
              <a:srgbClr val="2C6E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3657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77840" y="3611880"/>
            <a:ext cx="228600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55280" y="1828800"/>
            <a:ext cx="594360" cy="594360"/>
          </a:xfrm>
          <a:prstGeom prst="ellipse">
            <a:avLst/>
          </a:prstGeom>
          <a:solidFill>
            <a:srgbClr val="00A087">
              <a:alpha val="80000"/>
            </a:srgbClr>
          </a:solidFill>
          <a:ln w="19050">
            <a:solidFill>
              <a:srgbClr val="00A08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28432" y="1965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→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18120" y="25146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입자 내부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고상 확산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1208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 두께 방향 단면 + 입자 내부 확산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4114800"/>
            <a:ext cx="7955280" cy="502920"/>
          </a:xfrm>
          <a:prstGeom prst="rect">
            <a:avLst/>
          </a:prstGeom>
          <a:solidFill>
            <a:srgbClr val="E6F7F4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41148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DFN (P2D): 모든 물성이 위치(x) 의존  |  SPM: 대표 입자 1개로 단순화  |  SPMe: SPM + 전해질 효과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GOVERNING EQUATIONS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지배방정식 ① — 전해질 수송 &amp; 고상 확산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76809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0233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4023360" cy="411480"/>
          </a:xfrm>
          <a:prstGeom prst="rect">
            <a:avLst/>
          </a:prstGeom>
          <a:solidFill>
            <a:srgbClr val="2C6E8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704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전해질 Li⁺ 물질 수송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365760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373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εₑ ∂cₑ/∂t = ∇·(Dₑᵉᶠᶠ ∇cₑ) + (1-t⁺)/F · jₙ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514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전해질 Li⁺ 농도 [mol/m³]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862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Dₑᵉᶠᶠ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2862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유효 확산계수 = εₑᵇ·Dₑ (Bruggeman)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2095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2095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Li⁺ 이동 수 (transference number)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5570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35570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계면 반응 전류밀도 [A/m³]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9044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3904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전해질 체적분율 (공극률)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143000"/>
            <a:ext cx="40233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143000"/>
            <a:ext cx="4023360" cy="411480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1704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고상 Li 확산 (Fick's 2nd Law)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737360"/>
            <a:ext cx="365760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17373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∂cₛ/∂t = Dₛ/r² · ∂/∂r(r² ∂cₛ/∂r)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2514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cₛ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활물질 입자 내 Li 농도 [mol/m³]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2862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Dₛ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2862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고상 확산계수 [m²/s]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2095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32095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입자 중심으로부터 반경 방향 좌표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5570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B.C.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77840" y="35570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r=0: ∂cₛ/∂r = 0 (대칭)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9044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B.C.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77840" y="3904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r=Rₚ: -Dₛ∂cₛ/∂r = jₙ/F (표면 플럭스)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E6F7F4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SPM: cₑ 상수 가정 → 전해질 수송 방정식 생략  |  SPMe/DFN: cₑ 위치 의존성 고려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GOVERNING EQUATIONS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지배방정식 ② — 전하 보존 &amp; 반응속도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76809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02336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4023360" cy="411480"/>
          </a:xfrm>
          <a:prstGeom prst="rect">
            <a:avLst/>
          </a:prstGeom>
          <a:solidFill>
            <a:srgbClr val="2C6E8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704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전하 보존 (Ohm's Law)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3657600" cy="8686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5564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고상:  ∇·(σᵉᶠᶠ ∇φₛ) = jₙ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액상:  ∇·(κᵉᶠᶠ ∇φₑ) + ∇·(κ_D ∇ln cₑ) = -jₙ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σᵉᶠᶠ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71600" y="2697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유효 전자 전도도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9718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κᵉᶠᶠ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71600" y="2971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유효 이온 전도도 (Bruggeman)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246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φₛ, φₑ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71600" y="3246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고상/액상 전위 [V]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143000"/>
            <a:ext cx="402336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143000"/>
            <a:ext cx="4023360" cy="411480"/>
          </a:xfrm>
          <a:prstGeom prst="rect">
            <a:avLst/>
          </a:prstGeom>
          <a:solidFill>
            <a:srgbClr val="E64B35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1704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전하 이동 반응속도 (Butler-Volmer)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737360"/>
            <a:ext cx="36576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7373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jₙ = j₀ { exp(αₐFη/RT) - exp(-αcFη/RT) }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377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4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77840" y="2377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교환 전류밀도 (k₀, cₛ,surf, cₑ 의존)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6517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4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77840" y="2651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과전압 = φₛ - φₑ - U(cₛ,surf)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926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4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αₐ,αc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77840" y="29260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계수 (통상 0.5)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 전압 방정식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V_cell = U_pos(x_pos) − U_neg(x_neg) − η_pos − η_neg − I·R_ohm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" y="4343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 (열역학)           과전압 (반응속도)           저항 손실 (수송)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BDT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BDT 시뮬레이션 기능 구성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76809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2C6E8A"/>
          </a:solidFill>
          <a:ln/>
        </p:spPr>
      </p:sp>
      <p:sp>
        <p:nvSpPr>
          <p:cNvPr id="9" name="Shape 7"/>
          <p:cNvSpPr/>
          <p:nvPr/>
        </p:nvSpPr>
        <p:spPr>
          <a:xfrm>
            <a:off x="1417320" y="1417320"/>
            <a:ext cx="640080" cy="640080"/>
          </a:xfrm>
          <a:prstGeom prst="ellipse">
            <a:avLst/>
          </a:prstGeom>
          <a:solidFill>
            <a:srgbClr val="2C6E8A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선택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706624"/>
            <a:ext cx="109728" cy="109728"/>
          </a:xfrm>
          <a:prstGeom prst="ellipse">
            <a:avLst/>
          </a:prstGeom>
          <a:solidFill>
            <a:srgbClr val="2C6E8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51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 / SPMe / DFN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054096"/>
            <a:ext cx="109728" cy="109728"/>
          </a:xfrm>
          <a:prstGeom prst="ellipse">
            <a:avLst/>
          </a:prstGeom>
          <a:solidFill>
            <a:srgbClr val="2C6E8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9992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SPM: BMS 실시간 계산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3401568"/>
            <a:ext cx="109728" cy="109728"/>
          </a:xfrm>
          <a:prstGeom prst="ellipse">
            <a:avLst/>
          </a:prstGeom>
          <a:solidFill>
            <a:srgbClr val="2C6E8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3467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SPMe: 속도-정확도 절충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3749040"/>
            <a:ext cx="109728" cy="109728"/>
          </a:xfrm>
          <a:prstGeom prst="ellipse">
            <a:avLst/>
          </a:prstGeom>
          <a:solidFill>
            <a:srgbClr val="2C6E8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6941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DFN: 고정밀 연구용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096512"/>
            <a:ext cx="109728" cy="109728"/>
          </a:xfrm>
          <a:prstGeom prst="ellipse">
            <a:avLst/>
          </a:prstGeom>
          <a:solidFill>
            <a:srgbClr val="2C6E8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0416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콤보박스 + HTML 툴팁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118872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188720"/>
            <a:ext cx="2560320" cy="54864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23" name="Shape 21"/>
          <p:cNvSpPr/>
          <p:nvPr/>
        </p:nvSpPr>
        <p:spPr>
          <a:xfrm>
            <a:off x="4160520" y="1417320"/>
            <a:ext cx="640080" cy="640080"/>
          </a:xfrm>
          <a:prstGeom prst="ellipse">
            <a:avLst/>
          </a:prstGeom>
          <a:solidFill>
            <a:srgbClr val="00A087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프리셋 파라미터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429000" y="2706624"/>
            <a:ext cx="109728" cy="109728"/>
          </a:xfrm>
          <a:prstGeom prst="ellipse">
            <a:avLst/>
          </a:prstGeom>
          <a:solidFill>
            <a:srgbClr val="00A087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2651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7종 문헌값 프리셋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29000" y="3054096"/>
            <a:ext cx="109728" cy="109728"/>
          </a:xfrm>
          <a:prstGeom prst="ellipse">
            <a:avLst/>
          </a:prstGeom>
          <a:solidFill>
            <a:srgbClr val="00A087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29992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Chen2020 (NMC811, 5Ah)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29000" y="3401568"/>
            <a:ext cx="109728" cy="109728"/>
          </a:xfrm>
          <a:prstGeom prst="ellipse">
            <a:avLst/>
          </a:prstGeom>
          <a:solidFill>
            <a:srgbClr val="00A087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0" y="33467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OKane2022 (열화 모델)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29000" y="3749040"/>
            <a:ext cx="109728" cy="109728"/>
          </a:xfrm>
          <a:prstGeom prst="ellipse">
            <a:avLst/>
          </a:prstGeom>
          <a:solidFill>
            <a:srgbClr val="00A087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0" y="36941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14개 핵심 파라미터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29000" y="4096512"/>
            <a:ext cx="109728" cy="109728"/>
          </a:xfrm>
          <a:prstGeom prst="ellipse">
            <a:avLst/>
          </a:prstGeom>
          <a:solidFill>
            <a:srgbClr val="00A087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0" y="40416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한글↔PyBaMM 키 자동 매핑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43600" y="118872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43600" y="1188720"/>
            <a:ext cx="2560320" cy="54864"/>
          </a:xfrm>
          <a:prstGeom prst="rect">
            <a:avLst/>
          </a:prstGeom>
          <a:solidFill>
            <a:srgbClr val="E64B35"/>
          </a:solidFill>
          <a:ln/>
        </p:spPr>
      </p:sp>
      <p:sp>
        <p:nvSpPr>
          <p:cNvPr id="37" name="Shape 35"/>
          <p:cNvSpPr/>
          <p:nvPr/>
        </p:nvSpPr>
        <p:spPr>
          <a:xfrm>
            <a:off x="6903720" y="1417320"/>
            <a:ext cx="640080" cy="640080"/>
          </a:xfrm>
          <a:prstGeom prst="ellipse">
            <a:avLst/>
          </a:prstGeom>
          <a:solidFill>
            <a:srgbClr val="E64B35">
              <a:alpha val="8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08076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충방전 패턴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172200" y="2706624"/>
            <a:ext cx="109728" cy="109728"/>
          </a:xfrm>
          <a:prstGeom prst="ellipse">
            <a:avLst/>
          </a:prstGeom>
          <a:solidFill>
            <a:srgbClr val="E64B35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2651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5가지 모드 지원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72200" y="3054096"/>
            <a:ext cx="109728" cy="109728"/>
          </a:xfrm>
          <a:prstGeom prst="ellipse">
            <a:avLst/>
          </a:prstGeom>
          <a:solidFill>
            <a:srgbClr val="E64B35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29992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/ Discharge / CCV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72200" y="3401568"/>
            <a:ext cx="109728" cy="109728"/>
          </a:xfrm>
          <a:prstGeom prst="ellipse">
            <a:avLst/>
          </a:prstGeom>
          <a:solidFill>
            <a:srgbClr val="E64B35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33467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GITT/HPPC 펄스 패턴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72200" y="3749040"/>
            <a:ext cx="109728" cy="109728"/>
          </a:xfrm>
          <a:prstGeom prst="ellipse">
            <a:avLst/>
          </a:prstGeom>
          <a:solidFill>
            <a:srgbClr val="E64B35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36941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자유 입력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172200" y="4096512"/>
            <a:ext cx="109728" cy="109728"/>
          </a:xfrm>
          <a:prstGeom prst="ellipse">
            <a:avLst/>
          </a:prstGeom>
          <a:solidFill>
            <a:srgbClr val="E64B35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0" y="40416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스텝 리스트 편집 UI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스크린샷 placeholder — 실제 발표 시 BDT 탭 스크린샷으로 교체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SIMULATION 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전압 분석 — Cell Voltage &amp; Voltage Components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76809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776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3977640" cy="365760"/>
          </a:xfrm>
          <a:prstGeom prst="rect">
            <a:avLst/>
          </a:prstGeom>
          <a:solidFill>
            <a:srgbClr val="2C6E8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61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[0,0]  Cell Voltage &amp; Current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645920"/>
            <a:ext cx="361188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6459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V(t) + |I|(t) twinx plot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Time [min]  |  Y좌: 전압 [V]  |  Y우: |전류| [A]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CC→CV 전환점, 전압 기울기 변화를 직관적으로 확인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143000"/>
            <a:ext cx="39776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143000"/>
            <a:ext cx="397764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161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[1,0]  Voltage Components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1645920"/>
            <a:ext cx="361188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6459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Stacked area: OCP + η + IR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743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U_pos − U_neg − η_pos − η_neg − IR_ohm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항의 면적 비율로 전압 강하 원인 정량 분해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활용 포인트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9319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차트를 위아래로 비교 → "전압 급락 원인"을 정량적으로 진단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Ohmic 면적↑ → 전극 두께/전도도  |  OCP 변화↑ → sto. window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율특성 개선: 두께 조정 vs 입자 크기 vs N/P 비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SIMULATION 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전극 밸런스 — SoC 관점 &amp; Stoichiometry 관점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76809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776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3977640" cy="365760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61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[0,1]  Electrode Balance — SoC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645920"/>
            <a:ext cx="361188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6459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 OCP + Cell V (좌)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 OCP (우)  vs  SOC [%]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Cell SOC (100→0% 반전)  |  실사용 영역 = 굵은 선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SOC별 OCV와 실제 전압 차이 = 과전압 + Ohmic 합산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143000"/>
            <a:ext cx="39776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143000"/>
            <a:ext cx="3977640" cy="3657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161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[1,1]  Electrode Balance — Stoichiometry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1645920"/>
            <a:ext cx="361188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6459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 OCP (좌) / NE OCP (우)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 Stoichiometry x (0~1)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743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시작/끝점 마커로 실제 사용 stoichiometry window 표시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소재 관점: 양극 x=0.45~0.95 중 어디까지 활용되는지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활용 포인트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9319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만충 시 음극 x &gt; 0.9 → 리튬 석출 리스크 직접 확인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열화 시 LLI → window 슬라이딩 → baseline 대비 오버레이 정량 분석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dVdQ 피팅의 물리적 기반: LLI / LAM_NE / LAM_PE 분리 정량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SIMULATION 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열 해석 — Cell Temperature &amp; Heat Generation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76809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776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3977640" cy="365760"/>
          </a:xfrm>
          <a:prstGeom prst="rect">
            <a:avLst/>
          </a:prstGeom>
          <a:solidFill>
            <a:srgbClr val="E64B3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61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[0,2]  Cell Temperature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645920"/>
            <a:ext cx="361188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6459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Volume-averaged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 Temperature [°C]  vs  Time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체적 평균 셀 온도 프로파일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급속충전 시 온도 상승 패턴 → 냉각 설계 입력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143000"/>
            <a:ext cx="39776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143000"/>
            <a:ext cx="3977640" cy="365760"/>
          </a:xfrm>
          <a:prstGeom prst="rect">
            <a:avLst/>
          </a:prstGeom>
          <a:solidFill>
            <a:srgbClr val="F39B7F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161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[1,2]  Heat Generation Sources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1645920"/>
            <a:ext cx="361188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6459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Ohmic / Irreversible / Reversible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Heating [W/m³]  vs  Time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743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3가지 발열원 분리 표시: Ohmic / 비가역 / 가역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C-rate별 발열 구성비 변화 비교 가능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활용 포인트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9319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급속충전 안전성 진단: Ohmic vs Irreversible 비율로 주요 발열원 식별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Ohmic 지배 → 두께/전도도 최적화  |  Irreversible 지배 → 반응속도 개선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셀 발열량 → 모듈/팩 냉각 설계 기초 데이터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PARAMETERS &amp;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파라미터 현황 — 4개 물성 카테고리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76809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2011680"/>
                <a:gridCol w="15544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카테고리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파라미터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PyBaMM 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단위 변환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출처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0040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기하학적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전극 두께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6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electrode thickness [m]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μm → m (×1e-6)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문헌값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2004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입자 반경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6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particle radius [m]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μm → m (×1e-6)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문헌값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2004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공극률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6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porosity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문헌값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2004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수송 물성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고상 확산계수 Dₛ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6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diffusivity [m2.s-1]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문헌값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2004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이온 전도도 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6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conductivity [S.m-1]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문헌값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반응속도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교환전류밀도 j₀ (k₀)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6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reaction rate [m.s-1]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문헌값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열역학적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OCV 곡선 U(x)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6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OCP function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함수형 (callable)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문헌값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E6F7F4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3886200"/>
            <a:ext cx="64008" cy="822960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931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모든 파라미터의 출처: 문헌값 (Chen2020, OKane2022 등 프리셋)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자사 셀 설계 파라미터와 괴리 존재  |  실측 파라미터 전환이 시뮬레이션 신뢰도의 핵심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PARAMETERS &amp;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파라미터 로드맵 — 문헌값에서 실측값으로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76809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1188720" cy="1005840"/>
          </a:xfrm>
          <a:prstGeom prst="rect">
            <a:avLst/>
          </a:prstGeom>
          <a:solidFill>
            <a:srgbClr val="2C6E8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물성 측정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1307592"/>
            <a:ext cx="91440" cy="91440"/>
          </a:xfrm>
          <a:prstGeom prst="ellipse">
            <a:avLst/>
          </a:prstGeom>
          <a:solidFill>
            <a:srgbClr val="2C6E8A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1234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Design Sheet → 기하학적 파라미터 직접 입력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0" y="1307592"/>
            <a:ext cx="91440" cy="91440"/>
          </a:xfrm>
          <a:prstGeom prst="ellipse">
            <a:avLst/>
          </a:prstGeom>
          <a:solidFill>
            <a:srgbClr val="2C6E8A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234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합제밀도 + 배합비 → 체적분율 변환 계산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1764792"/>
            <a:ext cx="91440" cy="91440"/>
          </a:xfrm>
          <a:prstGeom prst="ellipse">
            <a:avLst/>
          </a:prstGeom>
          <a:solidFill>
            <a:srgbClr val="2C6E8A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1691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IQC D50 → 입자 반경, 비용량 → cₘₐₓ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1764792"/>
            <a:ext cx="91440" cy="91440"/>
          </a:xfrm>
          <a:prstGeom prst="ellipse">
            <a:avLst/>
          </a:prstGeom>
          <a:solidFill>
            <a:srgbClr val="2C6E8A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691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 / GITT 측정 → Dₛ, κ, k₀ 추출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1488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6E8A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331720"/>
            <a:ext cx="1188720" cy="1005840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2788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캘리브레이션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0" y="2496312"/>
            <a:ext cx="91440" cy="91440"/>
          </a:xfrm>
          <a:prstGeom prst="ellipse">
            <a:avLst/>
          </a:prstGeom>
          <a:solidFill>
            <a:srgbClr val="00A087"/>
          </a:solidFill>
          <a:ln/>
        </p:spPr>
      </p:sp>
      <p:sp>
        <p:nvSpPr>
          <p:cNvPr id="25" name="Text 23"/>
          <p:cNvSpPr/>
          <p:nvPr/>
        </p:nvSpPr>
        <p:spPr>
          <a:xfrm>
            <a:off x="2011680" y="24231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 OCV vs 시뮬 OCV → Δ &lt; 10mV 목표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0" y="2496312"/>
            <a:ext cx="91440" cy="91440"/>
          </a:xfrm>
          <a:prstGeom prst="ellipse">
            <a:avLst/>
          </a:prstGeom>
          <a:solidFill>
            <a:srgbClr val="00A087"/>
          </a:solidFill>
          <a:ln/>
        </p:spPr>
      </p:sp>
      <p:sp>
        <p:nvSpPr>
          <p:cNvPr id="27" name="Text 25"/>
          <p:cNvSpPr/>
          <p:nvPr/>
        </p:nvSpPr>
        <p:spPr>
          <a:xfrm>
            <a:off x="5394960" y="24231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 vs 시뮬 DCIR → Δ &lt; 15% 목표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0" y="2953512"/>
            <a:ext cx="91440" cy="91440"/>
          </a:xfrm>
          <a:prstGeom prst="ellipse">
            <a:avLst/>
          </a:prstGeom>
          <a:solidFill>
            <a:srgbClr val="00A087"/>
          </a:solidFill>
          <a:ln/>
        </p:spPr>
      </p:sp>
      <p:sp>
        <p:nvSpPr>
          <p:cNvPr id="29" name="Text 27"/>
          <p:cNvSpPr/>
          <p:nvPr/>
        </p:nvSpPr>
        <p:spPr>
          <a:xfrm>
            <a:off x="2011680" y="2880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 용량 추이 실측 vs 시뮬 비교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12080" y="2953512"/>
            <a:ext cx="91440" cy="91440"/>
          </a:xfrm>
          <a:prstGeom prst="ellipse">
            <a:avLst/>
          </a:prstGeom>
          <a:solidFill>
            <a:srgbClr val="00A087"/>
          </a:solidFill>
          <a:ln/>
        </p:spPr>
      </p:sp>
      <p:sp>
        <p:nvSpPr>
          <p:cNvPr id="31" name="Text 29"/>
          <p:cNvSpPr/>
          <p:nvPr/>
        </p:nvSpPr>
        <p:spPr>
          <a:xfrm>
            <a:off x="5394960" y="2880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sensitivity 분석 → 주요 변수 식별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3375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87"/>
                </a:solidFill>
              </a:rPr>
              <a:t>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520440"/>
            <a:ext cx="118872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611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3977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 설계 최적화 연계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828800" y="3685032"/>
            <a:ext cx="91440" cy="914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2011680" y="36118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전극 두께/밀도 sweep → 용량/율특성 트레이드오프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212080" y="3685032"/>
            <a:ext cx="91440" cy="914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0" name="Text 38"/>
          <p:cNvSpPr/>
          <p:nvPr/>
        </p:nvSpPr>
        <p:spPr>
          <a:xfrm>
            <a:off x="5394960" y="36118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N/P 비 최적화 → 수명 vs 에너지밀도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828800" y="4142232"/>
            <a:ext cx="91440" cy="914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2" name="Text 40"/>
          <p:cNvSpPr/>
          <p:nvPr/>
        </p:nvSpPr>
        <p:spPr>
          <a:xfrm>
            <a:off x="2011680" y="4069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충전 프로파일 시뮬레이션 → 석출 리스크 평가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212080" y="4142232"/>
            <a:ext cx="91440" cy="914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4" name="Text 42"/>
          <p:cNvSpPr/>
          <p:nvPr/>
        </p:nvSpPr>
        <p:spPr>
          <a:xfrm>
            <a:off x="5394960" y="4069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열화 모델 연동 → 수명 예측 (OKane2022 기반)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 문헌값 프리셋 → 자사 셀 실측 파라미터 기반 시뮬레이션 → 셀 설계 의사결정 지원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요약 및 향후 계획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200400" cy="27432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768096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828800"/>
            <a:ext cx="54864" cy="502920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P2D 모델 구조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18288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 두께 1D + 입자 반경 1D  →  DFN/SPMe/SPM 3단계 선택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768096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468880"/>
            <a:ext cx="54864" cy="502920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 출력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24688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전압 분해, 전극 밸런스, 열 해석  →  12개 subplot으로 종합 진단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768096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108960"/>
            <a:ext cx="54864" cy="502920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현황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31089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전량 문헌값  →  Phase 1~3 로드맵으로 실측 전환 추진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3749040"/>
            <a:ext cx="768096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749040"/>
            <a:ext cx="54864" cy="502920"/>
          </a:xfrm>
          <a:prstGeom prst="rect">
            <a:avLst/>
          </a:prstGeom>
          <a:solidFill>
            <a:srgbClr val="00A087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활용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3749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율특성 개선, 석출 리스크 평가, 열 설계 입력, 수명 예측 연계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C6E8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BDT 전기화학 시뮬레이션: P2D 모델 기반 셀 해석 플랫폼</dc:title>
  <dc:subject>PptxGenJS Presentation</dc:subject>
  <dc:creator>BDT Development</dc:creator>
  <cp:lastModifiedBy>BDT Development</cp:lastModifiedBy>
  <cp:revision>1</cp:revision>
  <dcterms:created xsi:type="dcterms:W3CDTF">2026-04-08T08:09:10Z</dcterms:created>
  <dcterms:modified xsi:type="dcterms:W3CDTF">2026-04-08T08:09:10Z</dcterms:modified>
</cp:coreProperties>
</file>